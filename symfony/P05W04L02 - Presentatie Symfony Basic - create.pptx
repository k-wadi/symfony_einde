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EA7F0787-0B38-4D67-9B3B-894F3B57ECDF}"/>
    <pc:docChg chg="custSel modSld">
      <pc:chgData name="Kleijwegt, Mark" userId="a0bc88e8-58c9-4d1a-b81a-11ee91d0acb1" providerId="ADAL" clId="{EA7F0787-0B38-4D67-9B3B-894F3B57ECDF}" dt="2025-07-11T11:30:59.528" v="12" actId="20577"/>
      <pc:docMkLst>
        <pc:docMk/>
      </pc:docMkLst>
      <pc:sldChg chg="modSp mod">
        <pc:chgData name="Kleijwegt, Mark" userId="a0bc88e8-58c9-4d1a-b81a-11ee91d0acb1" providerId="ADAL" clId="{EA7F0787-0B38-4D67-9B3B-894F3B57ECDF}" dt="2025-07-11T11:30:31.319" v="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EA7F0787-0B38-4D67-9B3B-894F3B57ECDF}" dt="2025-07-11T11:30:31.319" v="5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EA7F0787-0B38-4D67-9B3B-894F3B57ECDF}" dt="2025-07-11T11:30:17.128" v="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EA7F0787-0B38-4D67-9B3B-894F3B57ECDF}" dt="2025-07-11T11:30:17.128" v="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EA7F0787-0B38-4D67-9B3B-894F3B57ECDF}" dt="2025-07-11T11:30:23.600" v="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EA7F0787-0B38-4D67-9B3B-894F3B57ECDF}" dt="2025-07-11T11:30:23.600" v="3" actId="20577"/>
          <ac:spMkLst>
            <pc:docMk/>
            <pc:sldMk cId="4130192829" sldId="264"/>
            <ac:spMk id="4" creationId="{7FEAD5EA-03B2-FCAB-CC99-64B605A769F9}"/>
          </ac:spMkLst>
        </pc:spChg>
      </pc:sldChg>
      <pc:sldChg chg="modSp mod">
        <pc:chgData name="Kleijwegt, Mark" userId="a0bc88e8-58c9-4d1a-b81a-11ee91d0acb1" providerId="ADAL" clId="{EA7F0787-0B38-4D67-9B3B-894F3B57ECDF}" dt="2025-07-11T11:30:38.922" v="7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EA7F0787-0B38-4D67-9B3B-894F3B57ECDF}" dt="2025-07-11T11:30:38.922" v="7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EA7F0787-0B38-4D67-9B3B-894F3B57ECDF}" dt="2025-07-11T11:30:59.528" v="12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EA7F0787-0B38-4D67-9B3B-894F3B57ECDF}" dt="2025-07-11T11:30:59.528" v="12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Kleijwegt, Mark" userId="a0bc88e8-58c9-4d1a-b81a-11ee91d0acb1" providerId="ADAL" clId="{EA7F0787-0B38-4D67-9B3B-894F3B57ECDF}" dt="2025-07-11T11:30:45.277" v="9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EA7F0787-0B38-4D67-9B3B-894F3B57ECDF}" dt="2025-07-11T11:30:45.277" v="9" actId="20577"/>
          <ac:spMkLst>
            <pc:docMk/>
            <pc:sldMk cId="3002263289" sldId="288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EA7F0787-0B38-4D67-9B3B-894F3B57ECDF}" dt="2025-07-11T11:30:53.239" v="11" actId="20577"/>
        <pc:sldMkLst>
          <pc:docMk/>
          <pc:sldMk cId="235906443" sldId="289"/>
        </pc:sldMkLst>
        <pc:spChg chg="mod">
          <ac:chgData name="Kleijwegt, Mark" userId="a0bc88e8-58c9-4d1a-b81a-11ee91d0acb1" providerId="ADAL" clId="{EA7F0787-0B38-4D67-9B3B-894F3B57ECDF}" dt="2025-07-11T11:30:53.239" v="11" actId="20577"/>
          <ac:spMkLst>
            <pc:docMk/>
            <pc:sldMk cId="235906443" sldId="289"/>
            <ac:spMk id="5" creationId="{9B11CF62-D499-5B92-3E89-3D263FD11D40}"/>
          </ac:spMkLst>
        </pc:spChg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DF85F0A-AA30-4146-9AF7-20D3037815B7}" dt="2024-09-10T07:05:36.755" v="2190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Titelstijl van model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err="1"/>
              <a:t>Symfony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err="1"/>
              <a:t>Create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5 -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Terugblik wat ken je al?</a:t>
            </a:r>
          </a:p>
          <a:p>
            <a:r>
              <a:rPr lang="nl-NL"/>
              <a:t>Wat is </a:t>
            </a:r>
            <a:r>
              <a:rPr lang="nl-NL" err="1"/>
              <a:t>create</a:t>
            </a:r>
            <a:r>
              <a:rPr lang="nl-NL"/>
              <a:t>?</a:t>
            </a:r>
          </a:p>
          <a:p>
            <a:r>
              <a:rPr lang="nl-NL" err="1"/>
              <a:t>Persist</a:t>
            </a:r>
            <a:endParaRPr lang="nl-NL"/>
          </a:p>
          <a:p>
            <a:r>
              <a:rPr lang="nl-NL"/>
              <a:t>Flush</a:t>
            </a:r>
          </a:p>
          <a:p>
            <a:r>
              <a:rPr lang="nl-NL"/>
              <a:t>Hoe </a:t>
            </a:r>
            <a:r>
              <a:rPr lang="nl-NL" err="1"/>
              <a:t>create</a:t>
            </a:r>
            <a:r>
              <a:rPr lang="nl-NL"/>
              <a:t> ik een </a:t>
            </a:r>
            <a:r>
              <a:rPr lang="nl-NL" err="1"/>
              <a:t>entity</a:t>
            </a:r>
            <a:r>
              <a:rPr lang="nl-NL"/>
              <a:t> in </a:t>
            </a:r>
            <a:r>
              <a:rPr lang="nl-NL" err="1"/>
              <a:t>Symfony</a:t>
            </a:r>
            <a:endParaRPr lang="nl-NL"/>
          </a:p>
          <a:p>
            <a:r>
              <a:rPr lang="nl-NL">
                <a:solidFill>
                  <a:schemeClr val="accent1"/>
                </a:solidFill>
              </a:rPr>
              <a:t>Aan het werk!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7 - week 5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Je kent de basis van PHP</a:t>
            </a:r>
          </a:p>
          <a:p>
            <a:r>
              <a:rPr lang="nl-NL"/>
              <a:t>Je weet hoe je met XAMPP een Apache server moet starten</a:t>
            </a:r>
          </a:p>
          <a:p>
            <a:r>
              <a:rPr lang="nl-NL"/>
              <a:t>Je weet hoe je met XAMPP een </a:t>
            </a:r>
            <a:r>
              <a:rPr lang="nl-NL" err="1"/>
              <a:t>MySQL</a:t>
            </a:r>
            <a:r>
              <a:rPr lang="nl-NL"/>
              <a:t> server moet starten</a:t>
            </a:r>
          </a:p>
          <a:p>
            <a:r>
              <a:rPr lang="nl-NL"/>
              <a:t>Je weet hoe je met </a:t>
            </a:r>
            <a:r>
              <a:rPr lang="nl-NL" err="1"/>
              <a:t>PHPMyAdmin</a:t>
            </a:r>
            <a:r>
              <a:rPr lang="nl-NL"/>
              <a:t> een database en tabellen kan maken</a:t>
            </a:r>
          </a:p>
          <a:p>
            <a:r>
              <a:rPr lang="nl-NL"/>
              <a:t>Je weet hoe je met </a:t>
            </a:r>
            <a:r>
              <a:rPr lang="nl-NL" err="1"/>
              <a:t>PHPStorm</a:t>
            </a:r>
            <a:r>
              <a:rPr lang="nl-NL"/>
              <a:t> een project kan aanmaken en hierin kan werken</a:t>
            </a:r>
          </a:p>
          <a:p>
            <a:r>
              <a:rPr lang="nl-NL"/>
              <a:t>Je weet hoe je met GitHub desktop een project kan </a:t>
            </a:r>
            <a:r>
              <a:rPr lang="nl-NL" err="1"/>
              <a:t>clonen</a:t>
            </a:r>
            <a:r>
              <a:rPr lang="nl-NL"/>
              <a:t> en hierin kan werken</a:t>
            </a:r>
          </a:p>
          <a:p>
            <a:r>
              <a:rPr lang="nl-NL"/>
              <a:t>Je weet wat het MVC model is en kan dit uitleggen</a:t>
            </a:r>
          </a:p>
          <a:p>
            <a:r>
              <a:rPr lang="nl-NL"/>
              <a:t>Je weet hoe je met routes moet werken binnen </a:t>
            </a:r>
            <a:r>
              <a:rPr lang="nl-NL" err="1"/>
              <a:t>Symfony</a:t>
            </a:r>
            <a:endParaRPr lang="nl-NL"/>
          </a:p>
          <a:p>
            <a:r>
              <a:rPr lang="nl-NL"/>
              <a:t>Je weet hoe je data uit een tabel kunt lezen en kunt dit weergeven op een pagina</a:t>
            </a:r>
          </a:p>
          <a:p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5 -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/>
              <a:t>Wat is </a:t>
            </a:r>
            <a:r>
              <a:rPr lang="nl-NL" err="1"/>
              <a:t>create</a:t>
            </a:r>
            <a:r>
              <a:rPr lang="nl-NL"/>
              <a:t>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/>
              <a:t>Create is de C van Crud.</a:t>
            </a:r>
          </a:p>
          <a:p>
            <a:endParaRPr lang="en-US"/>
          </a:p>
          <a:p>
            <a:r>
              <a:rPr lang="en-US"/>
              <a:t>Met Create </a:t>
            </a:r>
            <a:r>
              <a:rPr lang="en-US" err="1"/>
              <a:t>gaan</a:t>
            </a:r>
            <a:r>
              <a:rPr lang="en-US"/>
              <a:t> we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nieuwe</a:t>
            </a:r>
            <a:r>
              <a:rPr lang="en-US"/>
              <a:t> </a:t>
            </a:r>
            <a:r>
              <a:rPr lang="en-US" err="1"/>
              <a:t>entiteit</a:t>
            </a:r>
            <a:r>
              <a:rPr lang="en-US"/>
              <a:t> </a:t>
            </a:r>
            <a:r>
              <a:rPr lang="en-US" err="1"/>
              <a:t>toevoegen</a:t>
            </a:r>
            <a:r>
              <a:rPr lang="en-US"/>
              <a:t> </a:t>
            </a:r>
            <a:r>
              <a:rPr lang="en-US" err="1"/>
              <a:t>aan</a:t>
            </a:r>
            <a:r>
              <a:rPr lang="en-US"/>
              <a:t> de table in de database.</a:t>
            </a:r>
          </a:p>
          <a:p>
            <a:endParaRPr lang="en-US"/>
          </a:p>
          <a:p>
            <a:r>
              <a:rPr lang="en-US" err="1"/>
              <a:t>Bijvoorbeeld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gebruiker</a:t>
            </a:r>
            <a:r>
              <a:rPr lang="en-US"/>
              <a:t> (User), </a:t>
            </a:r>
            <a:r>
              <a:rPr lang="en-US" err="1"/>
              <a:t>klant</a:t>
            </a:r>
            <a:r>
              <a:rPr lang="en-US"/>
              <a:t> (Customer, student (Student), Order, Product, </a:t>
            </a:r>
            <a:r>
              <a:rPr lang="en-US" err="1"/>
              <a:t>etc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5 -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/>
              <a:t>Persist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>
                <a:cs typeface="Arial" panose="020B0604020202020204"/>
              </a:rPr>
              <a:t>Binnen de context van databases is persistence het </a:t>
            </a:r>
            <a:r>
              <a:rPr lang="en-US" err="1">
                <a:cs typeface="Arial" panose="020B0604020202020204"/>
              </a:rPr>
              <a:t>vasthouden</a:t>
            </a:r>
            <a:r>
              <a:rPr lang="en-US">
                <a:cs typeface="Arial" panose="020B0604020202020204"/>
              </a:rPr>
              <a:t> of </a:t>
            </a:r>
            <a:r>
              <a:rPr lang="en-US" err="1">
                <a:cs typeface="Arial" panose="020B0604020202020204"/>
              </a:rPr>
              <a:t>opslaan</a:t>
            </a:r>
            <a:r>
              <a:rPr lang="en-US">
                <a:cs typeface="Arial" panose="020B0604020202020204"/>
              </a:rPr>
              <a:t> van </a:t>
            </a:r>
            <a:r>
              <a:rPr lang="en-US" err="1">
                <a:cs typeface="Arial" panose="020B0604020202020204"/>
              </a:rPr>
              <a:t>gegevens</a:t>
            </a:r>
            <a:r>
              <a:rPr lang="en-US"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Doctrine </a:t>
            </a:r>
            <a:r>
              <a:rPr lang="en-US" err="1">
                <a:cs typeface="Arial" panose="020B0604020202020204"/>
              </a:rPr>
              <a:t>heeft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een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functie</a:t>
            </a:r>
            <a:r>
              <a:rPr lang="en-US">
                <a:cs typeface="Arial" panose="020B0604020202020204"/>
              </a:rPr>
              <a:t> met de naam persist().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Met </a:t>
            </a:r>
            <a:r>
              <a:rPr lang="en-US" err="1">
                <a:cs typeface="Arial" panose="020B0604020202020204"/>
              </a:rPr>
              <a:t>deze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functie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kunnen</a:t>
            </a:r>
            <a:r>
              <a:rPr lang="en-US">
                <a:cs typeface="Arial" panose="020B0604020202020204"/>
              </a:rPr>
              <a:t> we </a:t>
            </a:r>
            <a:r>
              <a:rPr lang="en-US" err="1">
                <a:cs typeface="Arial" panose="020B0604020202020204"/>
              </a:rPr>
              <a:t>een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entiteit</a:t>
            </a:r>
            <a:r>
              <a:rPr lang="en-US">
                <a:cs typeface="Arial" panose="020B0604020202020204"/>
              </a:rPr>
              <a:t> ‘</a:t>
            </a:r>
            <a:r>
              <a:rPr lang="en-US" err="1">
                <a:cs typeface="Arial" panose="020B0604020202020204"/>
              </a:rPr>
              <a:t>vasthouden</a:t>
            </a:r>
            <a:r>
              <a:rPr lang="en-US">
                <a:cs typeface="Arial" panose="020B0604020202020204"/>
              </a:rPr>
              <a:t>’ </a:t>
            </a:r>
            <a:r>
              <a:rPr lang="en-US" err="1">
                <a:cs typeface="Arial" panose="020B0604020202020204"/>
              </a:rPr>
              <a:t>ofwel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opslaan</a:t>
            </a:r>
            <a:r>
              <a:rPr lang="en-US"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Persist </a:t>
            </a:r>
            <a:r>
              <a:rPr lang="en-US" err="1">
                <a:cs typeface="Arial" panose="020B0604020202020204"/>
              </a:rPr>
              <a:t>slaat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entiteit</a:t>
            </a:r>
            <a:r>
              <a:rPr lang="en-US">
                <a:cs typeface="Arial" panose="020B0604020202020204"/>
              </a:rPr>
              <a:t> op in de </a:t>
            </a:r>
            <a:r>
              <a:rPr lang="en-US" err="1">
                <a:cs typeface="Arial" panose="020B0604020202020204"/>
              </a:rPr>
              <a:t>entityManager</a:t>
            </a:r>
            <a:r>
              <a:rPr lang="en-US">
                <a:cs typeface="Arial" panose="020B0604020202020204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5 - week 5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8" name="Tijdelijke aanduiding voor inhoud 7" descr="Afbeelding met schoeisel, hemel, bal, wolk&#10;&#10;Automatisch gegenereerde beschrijving">
            <a:extLst>
              <a:ext uri="{FF2B5EF4-FFF2-40B4-BE49-F238E27FC236}">
                <a16:creationId xmlns:a16="http://schemas.microsoft.com/office/drawing/2014/main" id="{6EC4B7C5-FF5B-7766-9269-E70C03CAE6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452283"/>
            <a:ext cx="3960813" cy="263898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/>
              <a:t>Flush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>
                <a:latin typeface="+mj-lt"/>
              </a:rPr>
              <a:t>Binnen de context van databases is flush het </a:t>
            </a:r>
            <a:r>
              <a:rPr lang="en-US" err="1">
                <a:latin typeface="+mj-lt"/>
              </a:rPr>
              <a:t>leeg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schrijven</a:t>
            </a:r>
            <a:r>
              <a:rPr lang="en-US">
                <a:latin typeface="+mj-lt"/>
              </a:rPr>
              <a:t> van </a:t>
            </a:r>
            <a:r>
              <a:rPr lang="en-US" err="1">
                <a:latin typeface="+mj-lt"/>
              </a:rPr>
              <a:t>wijzigingen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opgeslagen</a:t>
            </a:r>
            <a:r>
              <a:rPr lang="en-US">
                <a:latin typeface="+mj-lt"/>
              </a:rPr>
              <a:t> in het </a:t>
            </a:r>
            <a:r>
              <a:rPr lang="en-US" err="1">
                <a:latin typeface="+mj-lt"/>
              </a:rPr>
              <a:t>geheugen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naar</a:t>
            </a:r>
            <a:r>
              <a:rPr lang="en-US">
                <a:latin typeface="+mj-lt"/>
              </a:rPr>
              <a:t> de database.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Doctrine </a:t>
            </a:r>
            <a:r>
              <a:rPr lang="en-US" err="1">
                <a:latin typeface="+mj-lt"/>
              </a:rPr>
              <a:t>heeft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functie</a:t>
            </a:r>
            <a:r>
              <a:rPr lang="en-US">
                <a:latin typeface="+mj-lt"/>
              </a:rPr>
              <a:t> met de naam flush().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Met </a:t>
            </a:r>
            <a:r>
              <a:rPr lang="en-US" err="1">
                <a:latin typeface="+mj-lt"/>
              </a:rPr>
              <a:t>deze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functie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kunnen</a:t>
            </a:r>
            <a:r>
              <a:rPr lang="en-US">
                <a:latin typeface="+mj-lt"/>
              </a:rPr>
              <a:t> we </a:t>
            </a:r>
            <a:r>
              <a:rPr lang="en-US" err="1">
                <a:latin typeface="+mj-lt"/>
              </a:rPr>
              <a:t>entiteiten</a:t>
            </a:r>
            <a:r>
              <a:rPr lang="en-US">
                <a:latin typeface="+mj-lt"/>
              </a:rPr>
              <a:t> die </a:t>
            </a:r>
            <a:r>
              <a:rPr lang="en-US" err="1">
                <a:latin typeface="+mj-lt"/>
              </a:rPr>
              <a:t>eerder</a:t>
            </a:r>
            <a:r>
              <a:rPr lang="en-US">
                <a:latin typeface="+mj-lt"/>
              </a:rPr>
              <a:t> in de </a:t>
            </a:r>
            <a:r>
              <a:rPr lang="en-US" err="1">
                <a:latin typeface="+mj-lt"/>
              </a:rPr>
              <a:t>entityManager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zijn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opgeslagen</a:t>
            </a:r>
            <a:r>
              <a:rPr lang="en-US">
                <a:latin typeface="+mj-lt"/>
              </a:rPr>
              <a:t> met persist, ‘</a:t>
            </a:r>
            <a:r>
              <a:rPr lang="en-US" err="1">
                <a:latin typeface="+mj-lt"/>
              </a:rPr>
              <a:t>wegspoelen</a:t>
            </a:r>
            <a:r>
              <a:rPr lang="en-US">
                <a:latin typeface="+mj-lt"/>
              </a:rPr>
              <a:t>’ </a:t>
            </a:r>
            <a:r>
              <a:rPr lang="en-US" err="1">
                <a:latin typeface="+mj-lt"/>
              </a:rPr>
              <a:t>naar</a:t>
            </a:r>
            <a:r>
              <a:rPr lang="en-US">
                <a:latin typeface="+mj-lt"/>
              </a:rPr>
              <a:t> de database.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Flush </a:t>
            </a:r>
            <a:r>
              <a:rPr lang="en-US" err="1">
                <a:latin typeface="+mj-lt"/>
              </a:rPr>
              <a:t>gaat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onze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entiteiten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dus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werkelijk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opslaan</a:t>
            </a:r>
            <a:r>
              <a:rPr lang="en-US">
                <a:latin typeface="+mj-lt"/>
              </a:rPr>
              <a:t> in de database.</a:t>
            </a:r>
          </a:p>
          <a:p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5 - week 5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9" name="Tijdelijke aanduiding voor inhoud 8" descr="Afbeelding met muur, overdekt, persoon, Sanitair armatuur&#10;&#10;Automatisch gegenereerde beschrijving">
            <a:extLst>
              <a:ext uri="{FF2B5EF4-FFF2-40B4-BE49-F238E27FC236}">
                <a16:creationId xmlns:a16="http://schemas.microsoft.com/office/drawing/2014/main" id="{197F3DD2-8BB0-77C7-4561-4B15ED5B3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37" y="488722"/>
            <a:ext cx="2545471" cy="1696981"/>
          </a:xfrm>
        </p:spPr>
      </p:pic>
      <p:pic>
        <p:nvPicPr>
          <p:cNvPr id="11" name="Afbeelding 10" descr="Afbeelding met tekst, Kaartspel&#10;&#10;Automatisch gegenereerde beschrijving">
            <a:extLst>
              <a:ext uri="{FF2B5EF4-FFF2-40B4-BE49-F238E27FC236}">
                <a16:creationId xmlns:a16="http://schemas.microsoft.com/office/drawing/2014/main" id="{77E8F636-DAD9-E3E7-386F-45AC04E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37" y="2345677"/>
            <a:ext cx="2226818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/>
              <a:t>Hoe create </a:t>
            </a:r>
            <a:r>
              <a:rPr lang="en-US" err="1"/>
              <a:t>ik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entity in Symfony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err="1">
                <a:latin typeface="+mj-lt"/>
              </a:rPr>
              <a:t>Hieronder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een</a:t>
            </a:r>
            <a:r>
              <a:rPr lang="en-US">
                <a:latin typeface="+mj-lt"/>
              </a:rPr>
              <a:t> code </a:t>
            </a:r>
            <a:r>
              <a:rPr lang="en-US" err="1">
                <a:latin typeface="+mj-lt"/>
              </a:rPr>
              <a:t>voorbeeld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voor</a:t>
            </a:r>
            <a:r>
              <a:rPr lang="en-US">
                <a:latin typeface="+mj-lt"/>
              </a:rPr>
              <a:t> het </a:t>
            </a:r>
            <a:r>
              <a:rPr lang="en-US" err="1">
                <a:latin typeface="+mj-lt"/>
              </a:rPr>
              <a:t>aanmaken</a:t>
            </a:r>
            <a:r>
              <a:rPr lang="en-US">
                <a:latin typeface="+mj-lt"/>
              </a:rPr>
              <a:t> van </a:t>
            </a:r>
            <a:r>
              <a:rPr lang="en-US" err="1">
                <a:latin typeface="+mj-lt"/>
              </a:rPr>
              <a:t>een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entiteit</a:t>
            </a:r>
            <a:r>
              <a:rPr lang="en-US">
                <a:latin typeface="+mj-lt"/>
              </a:rPr>
              <a:t>.</a:t>
            </a:r>
          </a:p>
          <a:p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5 - week 5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04175046-6EFB-7640-DE7E-CB78862CF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3999" y="1878807"/>
            <a:ext cx="6502571" cy="1868848"/>
          </a:xfrm>
        </p:spPr>
      </p:pic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Aan de slag! Lees MBO-SD H5.3</a:t>
            </a:r>
            <a:br>
              <a:rPr lang="nl-NL"/>
            </a:br>
            <a:br>
              <a:rPr lang="nl-NL"/>
            </a:br>
            <a:br>
              <a:rPr lang="nl-NL"/>
            </a:br>
            <a:br>
              <a:rPr lang="nl-NL" sz="1200"/>
            </a:br>
            <a:r>
              <a:rPr lang="nl-NL" sz="1200"/>
              <a:t>Maak de opdracht uit het word document.</a:t>
            </a:r>
            <a:br>
              <a:rPr lang="nl-NL" sz="1200"/>
            </a:br>
            <a:endParaRPr lang="nl-NL" sz="120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</a:t>
            </a:r>
            <a:r>
              <a:rPr lang="nl-NL" err="1"/>
              <a:t>create</a:t>
            </a:r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1DF5C6-4622-4F37-AB93-7B068470040A}">
  <ds:schemaRefs>
    <ds:schemaRef ds:uri="0a3a6c56-5871-4c56-864a-5d95d6715f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BDFC7A-75BE-4BCD-B590-46664194C35E}">
  <ds:schemaRefs>
    <ds:schemaRef ds:uri="73dbb10f-d65e-4026-aa5c-544c0db9c1ca"/>
    <ds:schemaRef ds:uri="9c7db627-a19b-4420-ba46-d2da62c8f9f7"/>
    <ds:schemaRef ds:uri="a95f19fb-cad5-4f59-9d9d-bfe7d2b05f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b3f1b7b8-2918-4c5d-8d58-7c3241c605d4}" enabled="0" method="" siteId="{b3f1b7b8-2918-4c5d-8d58-7c3241c605d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Application>Microsoft Office PowerPoint</Application>
  <PresentationFormat>On-screen Show (16:9)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Office-thema</vt:lpstr>
      <vt:lpstr>Symfony</vt:lpstr>
      <vt:lpstr>Inhoud</vt:lpstr>
      <vt:lpstr>Wat ken je al?</vt:lpstr>
      <vt:lpstr>Wat is create?</vt:lpstr>
      <vt:lpstr>Persist</vt:lpstr>
      <vt:lpstr>Flush</vt:lpstr>
      <vt:lpstr>Hoe create ik een entity in Symfony</vt:lpstr>
      <vt:lpstr>Aan de slag! Lees MBO-SD H5.3   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revision>1</cp:revision>
  <dcterms:created xsi:type="dcterms:W3CDTF">2024-04-08T05:35:49Z</dcterms:created>
  <dcterms:modified xsi:type="dcterms:W3CDTF">2026-04-13T12:48:32Z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5047100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