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8" r:id="rId6"/>
    <p:sldId id="257" r:id="rId7"/>
    <p:sldId id="258" r:id="rId8"/>
    <p:sldId id="259" r:id="rId9"/>
    <p:sldId id="260" r:id="rId10"/>
    <p:sldId id="261" r:id="rId11"/>
    <p:sldId id="263" r:id="rId12"/>
    <p:sldId id="269" r:id="rId13"/>
    <p:sldId id="262" r:id="rId14"/>
    <p:sldId id="264" r:id="rId15"/>
    <p:sldId id="265" r:id="rId16"/>
    <p:sldId id="266" r:id="rId17"/>
    <p:sldId id="267" r:id="rId18"/>
  </p:sldIdLst>
  <p:sldSz cx="12192000" cy="6858000"/>
  <p:notesSz cx="6669088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n, M van der" userId="7071751e-8507-462b-863d-5bb5459a0324" providerId="ADAL" clId="{E4C6EA95-6419-4AE6-9E37-F404CE782655}"/>
    <pc:docChg chg="modSld">
      <pc:chgData name="Linden, M van der" userId="7071751e-8507-462b-863d-5bb5459a0324" providerId="ADAL" clId="{E4C6EA95-6419-4AE6-9E37-F404CE782655}" dt="2026-03-18T07:36:04.629" v="1" actId="1076"/>
      <pc:docMkLst>
        <pc:docMk/>
      </pc:docMkLst>
      <pc:sldChg chg="modSp mod">
        <pc:chgData name="Linden, M van der" userId="7071751e-8507-462b-863d-5bb5459a0324" providerId="ADAL" clId="{E4C6EA95-6419-4AE6-9E37-F404CE782655}" dt="2026-03-18T07:36:04.629" v="1" actId="1076"/>
        <pc:sldMkLst>
          <pc:docMk/>
          <pc:sldMk cId="1091721294" sldId="263"/>
        </pc:sldMkLst>
        <pc:picChg chg="mod">
          <ac:chgData name="Linden, M van der" userId="7071751e-8507-462b-863d-5bb5459a0324" providerId="ADAL" clId="{E4C6EA95-6419-4AE6-9E37-F404CE782655}" dt="2026-03-18T07:36:04.629" v="1" actId="1076"/>
          <ac:picMkLst>
            <pc:docMk/>
            <pc:sldMk cId="1091721294" sldId="263"/>
            <ac:picMk id="5" creationId="{06EDC6FD-D3CF-A56D-84BA-74CEC50412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006E2-D9A2-04C6-94E3-79464FC7C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55E9099-9347-2C4D-0953-1BE0234DD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7AC423-413D-3F64-E01F-966C4B8B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A4E6BB-002A-B141-69F8-1295528A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D3173D-DC9B-3C41-7EB7-54102483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8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8C473-668E-747D-DB1E-492FC360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D210C68-09C3-ED7B-0F6F-6471ABB8A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B57885-129E-4C72-0CFE-EACE8F7A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99FF2C3-C1D8-F392-5148-10D4E346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BCC50D4-70FE-9BAF-B9E6-0CD806AA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256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1D216-A811-45A8-78F3-57B6B369F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FD74678-966D-2202-4B03-64D3B5C9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432D28-F62A-C5B2-7333-ED4997CD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3C90CCB-2231-E983-788D-7349050D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AD8AA28-62DF-411E-CC1B-5BF46F68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441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8F5F8-3FE6-3704-7F3D-81C6700C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D9C0E7-8EBC-11C2-1679-B5EE3ECD0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EF8D575-BA02-A78A-D49F-3D50E474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0687B21-0811-08A4-E7A1-E8D1FC46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775E9D-A4C8-9AF1-D036-765C9E80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85CD8E0-3D38-3FEB-A795-BA0D29BC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153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7B7284-EF5C-573D-6BFE-736A9696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AB1673-6DC4-AAE5-AE85-0A7E3C9D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B854BEF-6818-20BA-BC1E-DB7DC760D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537F052-C667-27BA-B939-85D2E5CC0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504EF63-F3B0-19A4-4D3A-7A97D509C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EA2401B-4C02-40D5-44F4-ADAB7238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44B21A4-3A37-B79F-3BA2-B2A58B3E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B7C418B-71C8-2621-5BF6-0F53C202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225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BAA4C-601D-9F53-8CD3-8F85F2C0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0768EE5-377D-A5C1-3637-07998C51E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E16E760-87BD-97C0-278D-175AD2AE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7CBA07-50D2-CB5C-9688-FB93203B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849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097186E-4C51-5306-827F-9ECC54E1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5052E4A-D4E9-F11B-1EBA-9FE764A5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7F6E028-D05C-C3FC-9027-541D84BA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110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5E46CE-9374-F15C-FDE2-0628F50E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39001F-FB0E-6137-D717-FDA2FFEA2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AFDC638-626C-42DB-D74F-90B5DE0DB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46E3A57-CFC8-44D8-59C4-277A005D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0D1D23E-914F-6E76-6B57-963DF5ED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2D64C2D-C3D1-9479-CEC6-548EF746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9602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4BE00-3946-CE2E-18CE-4511925F6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443A447-3061-604E-C90A-96AD92034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12E9C48-CB65-0873-F61C-CCBD3FAFB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A6C93EC-796E-E280-734A-E52D2E14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3CBB3DF-21A6-037A-C2BD-ABD3B265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57598D8-3D35-65ED-C9A7-B31F6629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88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FC6EFC-22C6-3056-7073-50286EEB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BC8273D-FBBF-D05F-6F27-8F41B8D38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BDF324-19B7-577B-9802-234353E8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585EC6-2DEE-E42A-9873-FBFB4A958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77577E1-8175-AE4B-288C-78A90864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77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3CE7E64-8D8F-8B05-86BA-F3A76C5DA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9A58D35-D2BA-CDB6-0A3D-E751980C5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CF5228-0A63-CACE-C86D-FED15E68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DBDFB12-1E3B-AE1F-F2E4-D02C4FDC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4249B1E-4F5C-3AD7-9AC1-5C0CB79E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61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763C10B-782F-4FBD-ECB4-A705D86D9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9FC7150-9867-79E9-FAD4-B905A618B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7678D95-7F14-DAB8-E7B0-A7885DF51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E1245-E41B-4E0A-AE14-F2048096F949}" type="datetimeFigureOut">
              <a:rPr lang="nl-NL" smtClean="0"/>
              <a:t>11-5-2026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FAC459-5505-367F-035D-C05349FB7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5627CC-64DB-5F7C-7F43-CBB8EBEDB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BAE2A-1D32-4324-8DE7-70608018243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403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AC991-D93B-E411-B97C-3428685030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Winkelwagen applicatie</a:t>
            </a:r>
          </a:p>
        </p:txBody>
      </p:sp>
      <p:pic>
        <p:nvPicPr>
          <p:cNvPr id="1026" name="Picture 2" descr="Gebruikte Winkelwagen 4 zwenkwielen">
            <a:extLst>
              <a:ext uri="{FF2B5EF4-FFF2-40B4-BE49-F238E27FC236}">
                <a16:creationId xmlns:a16="http://schemas.microsoft.com/office/drawing/2014/main" id="{27ECAEFC-A02F-369E-51B7-E7323F3F8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353" y="3747247"/>
            <a:ext cx="2729753" cy="272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F754BE97-AC51-A798-6082-3C5B710CB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121" y="531384"/>
            <a:ext cx="9543597" cy="117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68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38645-4B95-CFF7-6D17-252A698C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Wat ga je leren?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B3301B7-F62E-E09A-4618-2B68EBDB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/>
              <a:t>Gebruik maken van </a:t>
            </a:r>
            <a:r>
              <a:rPr lang="nl-NL" err="1"/>
              <a:t>Fixtures</a:t>
            </a:r>
            <a:r>
              <a:rPr lang="nl-NL"/>
              <a:t> (=test data)</a:t>
            </a:r>
          </a:p>
          <a:p>
            <a:pPr lvl="1"/>
            <a:r>
              <a:rPr lang="en-US"/>
              <a:t>Fixtures are used to load a "fake" set of data into a database that can then be used for testing or to help give you some interesting data while you're developing your application.</a:t>
            </a:r>
          </a:p>
          <a:p>
            <a:pPr marL="457200" lvl="1" indent="0">
              <a:buNone/>
            </a:pPr>
            <a:endParaRPr lang="en-US"/>
          </a:p>
          <a:p>
            <a:r>
              <a:rPr lang="nl-NL"/>
              <a:t> Gebruiken / aanpassen van een </a:t>
            </a:r>
            <a:r>
              <a:rPr lang="nl-NL" err="1"/>
              <a:t>Symfony</a:t>
            </a:r>
            <a:r>
              <a:rPr lang="nl-NL"/>
              <a:t> Service</a:t>
            </a:r>
          </a:p>
          <a:p>
            <a:pPr lvl="1"/>
            <a:r>
              <a:rPr lang="en-US"/>
              <a:t>The functionality of a Symfony application is divided into smaller chunks called services. A service is a PHP object. 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err="1"/>
              <a:t>Gebruik</a:t>
            </a:r>
            <a:r>
              <a:rPr lang="en-US"/>
              <a:t> </a:t>
            </a:r>
            <a:r>
              <a:rPr lang="en-US" err="1"/>
              <a:t>maken</a:t>
            </a:r>
            <a:r>
              <a:rPr lang="en-US"/>
              <a:t> van </a:t>
            </a:r>
            <a:r>
              <a:rPr lang="en-US" err="1"/>
              <a:t>Sessies</a:t>
            </a:r>
            <a:endParaRPr lang="en-US"/>
          </a:p>
          <a:p>
            <a:pPr lvl="1"/>
            <a:r>
              <a:rPr lang="en-US"/>
              <a:t>The Symfony </a:t>
            </a:r>
            <a:r>
              <a:rPr lang="en-US" err="1"/>
              <a:t>HttpFoundation</a:t>
            </a:r>
            <a:r>
              <a:rPr lang="en-US"/>
              <a:t> component has a very powerful and flexible session subsystem which is designed to provide session management that you can use to store information about the user between requests through a clear object-oriented interface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5" name="Afbeelding 4" descr="Getekende bij met aanwijzer">
            <a:extLst>
              <a:ext uri="{FF2B5EF4-FFF2-40B4-BE49-F238E27FC236}">
                <a16:creationId xmlns:a16="http://schemas.microsoft.com/office/drawing/2014/main" id="{354E8D51-1C01-950C-4C53-C26674B0F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3855" y="187761"/>
            <a:ext cx="1489945" cy="16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6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BD0D0-482C-625A-84DD-CED44F40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386" y="201003"/>
            <a:ext cx="10353430" cy="916598"/>
          </a:xfrm>
        </p:spPr>
        <p:txBody>
          <a:bodyPr>
            <a:normAutofit/>
          </a:bodyPr>
          <a:lstStyle/>
          <a:p>
            <a:r>
              <a:rPr lang="nl-NL"/>
              <a:t>concurrentie onderzoek</a:t>
            </a:r>
          </a:p>
        </p:txBody>
      </p:sp>
      <p:pic>
        <p:nvPicPr>
          <p:cNvPr id="9" name="Afbeelding 8" descr="Afbeelding met tekst, schermopname, software, Webpagina&#10;&#10;Door AI gegenereerde inhoud is mogelijk onjuist.">
            <a:extLst>
              <a:ext uri="{FF2B5EF4-FFF2-40B4-BE49-F238E27FC236}">
                <a16:creationId xmlns:a16="http://schemas.microsoft.com/office/drawing/2014/main" id="{68BBCFED-0416-E69A-806A-803D7F62B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774" y="1228131"/>
            <a:ext cx="6310882" cy="555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93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A6028-BB81-5E04-C7FC-241290D6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3762990" cy="22443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Stap 1: toon </a:t>
            </a:r>
            <a:r>
              <a:rPr lang="en-US" sz="54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producten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Afbeelding 3" descr="Afbeelding met tekst, elektronica, schermopname, software&#10;&#10;Door AI gegenereerde inhoud is mogelijk onjuist.">
            <a:extLst>
              <a:ext uri="{FF2B5EF4-FFF2-40B4-BE49-F238E27FC236}">
                <a16:creationId xmlns:a16="http://schemas.microsoft.com/office/drawing/2014/main" id="{361F7CE4-E158-3145-0654-8CE90B1203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666" y="666728"/>
            <a:ext cx="5001976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37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9132D-A0C2-634E-9967-D97E132B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Maak product </a:t>
            </a:r>
            <a:r>
              <a:rPr lang="nl-NL" err="1"/>
              <a:t>entity</a:t>
            </a:r>
            <a:endParaRPr lang="nl-NL"/>
          </a:p>
        </p:txBody>
      </p:sp>
      <p:pic>
        <p:nvPicPr>
          <p:cNvPr id="4" name="Afbeelding 3" descr="Afbeelding met tekst, schermopname, Lettertype, Elektrisch blauw&#10;&#10;Door AI gegenereerde inhoud is mogelijk onjuist.">
            <a:extLst>
              <a:ext uri="{FF2B5EF4-FFF2-40B4-BE49-F238E27FC236}">
                <a16:creationId xmlns:a16="http://schemas.microsoft.com/office/drawing/2014/main" id="{DF758DA2-43CC-865A-4258-6845D94D0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89" y="1916288"/>
            <a:ext cx="3464378" cy="2396068"/>
          </a:xfrm>
          <a:prstGeom prst="rect">
            <a:avLst/>
          </a:prstGeom>
        </p:spPr>
      </p:pic>
      <p:pic>
        <p:nvPicPr>
          <p:cNvPr id="8" name="Afbeelding 7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02A46B93-8290-9388-8D9F-8BA10630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19" y="2059087"/>
            <a:ext cx="7270546" cy="225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61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8CC41-572D-9E6C-4E67-1F45FBC3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Tabel vullen met test data (</a:t>
            </a:r>
            <a:r>
              <a:rPr lang="nl-NL" err="1"/>
              <a:t>fixtures</a:t>
            </a:r>
            <a:r>
              <a:rPr lang="nl-NL"/>
              <a:t>)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3B179AC-5854-4D43-3ACC-0C5CA1E95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42" y="1371679"/>
            <a:ext cx="7132703" cy="638017"/>
          </a:xfrm>
          <a:prstGeom prst="rect">
            <a:avLst/>
          </a:prstGeom>
        </p:spPr>
      </p:pic>
      <p:pic>
        <p:nvPicPr>
          <p:cNvPr id="5" name="Afbeelding 4" descr="Afbeelding met tekst, schermopname, Lettertype, software&#10;&#10;Door AI gegenereerde inhoud is mogelijk onjuist.">
            <a:extLst>
              <a:ext uri="{FF2B5EF4-FFF2-40B4-BE49-F238E27FC236}">
                <a16:creationId xmlns:a16="http://schemas.microsoft.com/office/drawing/2014/main" id="{0C0782C3-9B21-3B7B-ACDC-DB8525D4E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77" y="2318730"/>
            <a:ext cx="6903618" cy="4298781"/>
          </a:xfrm>
          <a:prstGeom prst="rect">
            <a:avLst/>
          </a:prstGeom>
        </p:spPr>
      </p:pic>
      <p:pic>
        <p:nvPicPr>
          <p:cNvPr id="7" name="Afbeelding 6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77D36A71-5177-865A-66E5-241176008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497" y="2688030"/>
            <a:ext cx="3254022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9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3FABC-B2CD-95B5-8082-05AFFC8BD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/>
              <a:t>Inhoud product tabel na laden </a:t>
            </a:r>
            <a:r>
              <a:rPr lang="nl-NL" err="1"/>
              <a:t>fixtures</a:t>
            </a:r>
            <a:r>
              <a:rPr lang="nl-NL"/>
              <a:t> (</a:t>
            </a:r>
            <a:r>
              <a:rPr lang="nl-NL" err="1"/>
              <a:t>nice</a:t>
            </a:r>
            <a:r>
              <a:rPr lang="nl-NL">
                <a:sym typeface="Wingdings" panose="05000000000000000000" pitchFamily="2" charset="2"/>
              </a:rPr>
              <a:t>)</a:t>
            </a:r>
            <a:br>
              <a:rPr lang="nl-NL">
                <a:sym typeface="Wingdings" panose="05000000000000000000" pitchFamily="2" charset="2"/>
              </a:rPr>
            </a:br>
            <a:endParaRPr lang="nl-NL"/>
          </a:p>
        </p:txBody>
      </p:sp>
      <p:pic>
        <p:nvPicPr>
          <p:cNvPr id="5" name="Afbeelding 4" descr="Afbeelding met tekst, schermopname, nummer, software&#10;&#10;Door AI gegenereerde inhoud is mogelijk onjuist.">
            <a:extLst>
              <a:ext uri="{FF2B5EF4-FFF2-40B4-BE49-F238E27FC236}">
                <a16:creationId xmlns:a16="http://schemas.microsoft.com/office/drawing/2014/main" id="{4BAD3B7B-4F6E-D19E-DD28-93FCB9D01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68" y="1616424"/>
            <a:ext cx="6035563" cy="4328535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333879F1-9460-7E0B-A508-02AB43F23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291" y="1027906"/>
            <a:ext cx="4474944" cy="45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5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15F86-4811-A6C5-9B44-57792DDE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Tonen images</a:t>
            </a:r>
            <a:br>
              <a:rPr lang="nl-NL"/>
            </a:br>
            <a:endParaRPr lang="nl-NL"/>
          </a:p>
        </p:txBody>
      </p:sp>
      <p:pic>
        <p:nvPicPr>
          <p:cNvPr id="5" name="Afbeelding 4" descr="Afbeelding met tekst, schermopname, scherm, software&#10;&#10;Door AI gegenereerde inhoud is mogelijk onjuist.">
            <a:extLst>
              <a:ext uri="{FF2B5EF4-FFF2-40B4-BE49-F238E27FC236}">
                <a16:creationId xmlns:a16="http://schemas.microsoft.com/office/drawing/2014/main" id="{06EDC6FD-D3CF-A56D-84BA-74CEC5041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63" y="241794"/>
            <a:ext cx="6522796" cy="547516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7EB4527-F026-622F-8AE9-DA42A10B1E0B}"/>
              </a:ext>
            </a:extLst>
          </p:cNvPr>
          <p:cNvSpPr txBox="1"/>
          <p:nvPr/>
        </p:nvSpPr>
        <p:spPr>
          <a:xfrm>
            <a:off x="3242260" y="5840285"/>
            <a:ext cx="5351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>
                <a:solidFill>
                  <a:schemeClr val="tx2">
                    <a:lumMod val="50000"/>
                    <a:lumOff val="50000"/>
                  </a:schemeClr>
                </a:solidFill>
              </a:rPr>
              <a:t>www.dummyimage.com</a:t>
            </a:r>
          </a:p>
        </p:txBody>
      </p:sp>
    </p:spTree>
    <p:extLst>
      <p:ext uri="{BB962C8B-B14F-4D97-AF65-F5344CB8AC3E}">
        <p14:creationId xmlns:p14="http://schemas.microsoft.com/office/powerpoint/2010/main" val="1091721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55C77-EFFB-97E2-0B81-7EEBB2AB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Tonen product, bootstrap Card</a:t>
            </a:r>
          </a:p>
        </p:txBody>
      </p:sp>
      <p:pic>
        <p:nvPicPr>
          <p:cNvPr id="5" name="Afbeelding 4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7764BE19-AC06-C1D4-5235-112EFE11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441" y="1404638"/>
            <a:ext cx="3364005" cy="4107888"/>
          </a:xfrm>
          <a:prstGeom prst="rect">
            <a:avLst/>
          </a:prstGeom>
        </p:spPr>
      </p:pic>
      <p:pic>
        <p:nvPicPr>
          <p:cNvPr id="7" name="Afbeelding 6" descr="Afbeelding met tekst, Lettertype, schermopname&#10;&#10;Door AI gegenereerde inhoud is mogelijk onjuist.">
            <a:extLst>
              <a:ext uri="{FF2B5EF4-FFF2-40B4-BE49-F238E27FC236}">
                <a16:creationId xmlns:a16="http://schemas.microsoft.com/office/drawing/2014/main" id="{42D920B3-7FA2-D487-7753-B909300B2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797" y="1572843"/>
            <a:ext cx="6634716" cy="206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0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D0324-A16D-1C09-7213-682C4CB7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Tonen producten</a:t>
            </a:r>
          </a:p>
        </p:txBody>
      </p:sp>
      <p:pic>
        <p:nvPicPr>
          <p:cNvPr id="5" name="Afbeelding 4" descr="Afbeelding met tekst, schermopname, Lettertype, scherm&#10;&#10;Door AI gegenereerde inhoud is mogelijk onjuist.">
            <a:extLst>
              <a:ext uri="{FF2B5EF4-FFF2-40B4-BE49-F238E27FC236}">
                <a16:creationId xmlns:a16="http://schemas.microsoft.com/office/drawing/2014/main" id="{238C875F-9938-BB86-EB57-3900F08CA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99" y="1293863"/>
            <a:ext cx="9076207" cy="53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24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97AE0-9C0B-2D84-8F30-F322C093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Stap 2 Maak de database (ERD)</a:t>
            </a:r>
          </a:p>
        </p:txBody>
      </p:sp>
      <p:pic>
        <p:nvPicPr>
          <p:cNvPr id="5" name="Afbeelding 4" descr="Afbeelding met tekst, schermopname, diagram, lijn&#10;&#10;Door AI gegenereerde inhoud is mogelijk onjuist.">
            <a:extLst>
              <a:ext uri="{FF2B5EF4-FFF2-40B4-BE49-F238E27FC236}">
                <a16:creationId xmlns:a16="http://schemas.microsoft.com/office/drawing/2014/main" id="{6799F2D3-0693-D90B-5C05-E5EC0FF17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8600"/>
            <a:ext cx="10692106" cy="355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5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D9FE7-BE01-DD98-E3FB-14FAFB68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Stap 2 De database (tabellen)</a:t>
            </a:r>
          </a:p>
        </p:txBody>
      </p:sp>
      <p:pic>
        <p:nvPicPr>
          <p:cNvPr id="7" name="Afbeelding 6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9E61E939-CDB3-07A9-E012-C9DE0E9AE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60" y="1889370"/>
            <a:ext cx="11559420" cy="268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935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2CED-0C1B-D323-A749-70C8C37B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A173B-83DE-47BF-99ED-382AC9AE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Stap 2 Voorbeeld data</a:t>
            </a:r>
          </a:p>
        </p:txBody>
      </p:sp>
      <p:pic>
        <p:nvPicPr>
          <p:cNvPr id="4" name="Afbeelding 3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EA50A0FD-70FF-E937-337C-2B436ED5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91" y="1790106"/>
            <a:ext cx="6025111" cy="3378241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FDFB8F0D-E741-6E9B-59D7-FA7D4C62505C}"/>
              </a:ext>
            </a:extLst>
          </p:cNvPr>
          <p:cNvSpPr txBox="1"/>
          <p:nvPr/>
        </p:nvSpPr>
        <p:spPr>
          <a:xfrm>
            <a:off x="2014330" y="5857461"/>
            <a:ext cx="6904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/>
              <a:t>Pim strik koopt 5 producten. 1x product1 2x product2 en 2xproduct6</a:t>
            </a:r>
          </a:p>
        </p:txBody>
      </p:sp>
    </p:spTree>
    <p:extLst>
      <p:ext uri="{BB962C8B-B14F-4D97-AF65-F5344CB8AC3E}">
        <p14:creationId xmlns:p14="http://schemas.microsoft.com/office/powerpoint/2010/main" val="423027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036EE-5A79-6E0C-4EB6-4DB2105B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7985" cy="1325563"/>
          </a:xfrm>
        </p:spPr>
        <p:txBody>
          <a:bodyPr>
            <a:normAutofit fontScale="90000"/>
          </a:bodyPr>
          <a:lstStyle/>
          <a:p>
            <a:r>
              <a:rPr lang="nl-NL"/>
              <a:t>Stap 3: </a:t>
            </a:r>
            <a:br>
              <a:rPr lang="nl-NL"/>
            </a:br>
            <a:r>
              <a:rPr lang="nl-NL"/>
              <a:t>Toon </a:t>
            </a:r>
            <a:br>
              <a:rPr lang="nl-NL"/>
            </a:br>
            <a:r>
              <a:rPr lang="nl-NL"/>
              <a:t>de winkelmand </a:t>
            </a:r>
          </a:p>
        </p:txBody>
      </p:sp>
      <p:pic>
        <p:nvPicPr>
          <p:cNvPr id="4" name="Afbeelding 3" descr="Afbeelding met tekst, schermopname, software, nummer&#10;&#10;Door AI gegenereerde inhoud is mogelijk onjuist.">
            <a:extLst>
              <a:ext uri="{FF2B5EF4-FFF2-40B4-BE49-F238E27FC236}">
                <a16:creationId xmlns:a16="http://schemas.microsoft.com/office/drawing/2014/main" id="{E64E31C3-0CE1-2AF0-0F18-D7DCDBC45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079" y="168470"/>
            <a:ext cx="7695468" cy="62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055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3" ma:contentTypeDescription="Create a new document." ma:contentTypeScope="" ma:versionID="74752059858ec9857f6cd2ed1c78c5c1">
  <xsd:schema xmlns:xsd="http://www.w3.org/2001/XMLSchema" xmlns:xs="http://www.w3.org/2001/XMLSchema" xmlns:p="http://schemas.microsoft.com/office/2006/metadata/properties" xmlns:ns2="0a3a6c56-5871-4c56-864a-5d95d6715fab" targetNamespace="http://schemas.microsoft.com/office/2006/metadata/properties" ma:root="true" ma:fieldsID="23a91e7dcc60fdda42d37fce7ef55ba0" ns2:_="">
    <xsd:import namespace="0a3a6c56-5871-4c56-864a-5d95d6715f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6691AD-5DBA-41CD-8887-87C656E654E2}">
  <ds:schemaRefs>
    <ds:schemaRef ds:uri="0a3a6c56-5871-4c56-864a-5d95d6715f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7D4553E-FB04-4A93-8685-A5A0FDA808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EF40CF-98AB-4444-A013-125C7DC1417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Kantoorthema</vt:lpstr>
      <vt:lpstr>Winkelwagen applicatie</vt:lpstr>
      <vt:lpstr>Wat ga je leren?</vt:lpstr>
      <vt:lpstr>concurrentie onderzoek</vt:lpstr>
      <vt:lpstr>Stap 1: toon producten</vt:lpstr>
      <vt:lpstr>Maak product entity</vt:lpstr>
      <vt:lpstr>Tabel vullen met test data (fixtures)</vt:lpstr>
      <vt:lpstr>Inhoud product tabel na laden fixtures (nice) </vt:lpstr>
      <vt:lpstr>Tonen images </vt:lpstr>
      <vt:lpstr>Tonen product, bootstrap Card</vt:lpstr>
      <vt:lpstr>Tonen producten</vt:lpstr>
      <vt:lpstr>Stap 2 Maak de database (ERD)</vt:lpstr>
      <vt:lpstr>Stap 2 De database (tabellen)</vt:lpstr>
      <vt:lpstr>Stap 2 Voorbeeld data</vt:lpstr>
      <vt:lpstr>Stap 3:  Toon  de winkelmand </vt:lpstr>
    </vt:vector>
  </TitlesOfParts>
  <Company>ROC Mondriaan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Linden, M van der</dc:creator>
  <cp:revision>1</cp:revision>
  <cp:lastPrinted>2025-06-11T07:01:26Z</cp:lastPrinted>
  <dcterms:created xsi:type="dcterms:W3CDTF">2025-05-22T08:03:07Z</dcterms:created>
  <dcterms:modified xsi:type="dcterms:W3CDTF">2026-05-11T11:58:32Z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Order">
    <vt:r8>5046600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